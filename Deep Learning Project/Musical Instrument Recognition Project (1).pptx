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Libre Franklin"/>
      <p:regular r:id="rId22"/>
      <p:bold r:id="rId23"/>
      <p:italic r:id="rId24"/>
      <p:boldItalic r:id="rId25"/>
    </p:embeddedFont>
    <p:embeddedFont>
      <p:font typeface="Merriweather"/>
      <p:regular r:id="rId26"/>
      <p:bold r:id="rId27"/>
      <p:italic r:id="rId28"/>
      <p:boldItalic r:id="rId29"/>
    </p:embeddedFont>
    <p:embeddedFont>
      <p:font typeface="DM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LibreFranklin-regular.fntdata"/><Relationship Id="rId21" Type="http://schemas.openxmlformats.org/officeDocument/2006/relationships/slide" Target="slides/slide16.xml"/><Relationship Id="rId24" Type="http://schemas.openxmlformats.org/officeDocument/2006/relationships/font" Target="fonts/LibreFranklin-italic.fntdata"/><Relationship Id="rId23" Type="http://schemas.openxmlformats.org/officeDocument/2006/relationships/font" Target="fonts/LibreFranklin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regular.fntdata"/><Relationship Id="rId25" Type="http://schemas.openxmlformats.org/officeDocument/2006/relationships/font" Target="fonts/LibreFranklin-boldItalic.fntdata"/><Relationship Id="rId28" Type="http://schemas.openxmlformats.org/officeDocument/2006/relationships/font" Target="fonts/Merriweather-italic.fntdata"/><Relationship Id="rId27" Type="http://schemas.openxmlformats.org/officeDocument/2006/relationships/font" Target="fonts/Merriweath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-bold.fntdata"/><Relationship Id="rId30" Type="http://schemas.openxmlformats.org/officeDocument/2006/relationships/font" Target="fonts/DMSans-regular.fntdata"/><Relationship Id="rId11" Type="http://schemas.openxmlformats.org/officeDocument/2006/relationships/slide" Target="slides/slide6.xml"/><Relationship Id="rId33" Type="http://schemas.openxmlformats.org/officeDocument/2006/relationships/font" Target="fonts/DMSans-boldItalic.fntdata"/><Relationship Id="rId10" Type="http://schemas.openxmlformats.org/officeDocument/2006/relationships/slide" Target="slides/slide5.xml"/><Relationship Id="rId32" Type="http://schemas.openxmlformats.org/officeDocument/2006/relationships/font" Target="fonts/DM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446f0729a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e446f0729a_2_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446f0729a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e446f0729a_2_9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446f0729a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e446f0729a_2_9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446f0729a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446f0729a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446f0729a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e446f0729a_2_10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446f0729a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e446f0729a_2_1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446f0729a_2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e446f0729a_2_1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446f0729a_2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e446f0729a_2_1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446f0729a_2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e446f0729a_2_1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446f0729a_2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e446f0729a_2_1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446f0729a_2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e446f0729a_2_1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446f0729a_2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e446f0729a_2_1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446f0729a_0_1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446f0729a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446f0729a_0_1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446f0729a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446f0729a_0_1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e446f0729a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446f0729a_2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e446f0729a_2_1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mage.png" id="50" name="Google Shape;5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1097280" y="2108201"/>
            <a:ext cx="10058400" cy="37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8218426" y="6446838"/>
            <a:ext cx="258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1097279" y="6446838"/>
            <a:ext cx="6818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10993582" y="6446838"/>
            <a:ext cx="78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/>
          <p:nvPr/>
        </p:nvSpPr>
        <p:spPr>
          <a:xfrm>
            <a:off x="16" y="0"/>
            <a:ext cx="46542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 txBox="1"/>
          <p:nvPr>
            <p:ph type="title"/>
          </p:nvPr>
        </p:nvSpPr>
        <p:spPr>
          <a:xfrm>
            <a:off x="643466" y="786383"/>
            <a:ext cx="3517500" cy="20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ookman Old Style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5458984" y="812799"/>
            <a:ext cx="5928300" cy="52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2" type="body"/>
          </p:nvPr>
        </p:nvSpPr>
        <p:spPr>
          <a:xfrm>
            <a:off x="643465" y="3043050"/>
            <a:ext cx="3517500" cy="30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643464" y="6446520"/>
            <a:ext cx="3517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5458983" y="6446520"/>
            <a:ext cx="533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10993582" y="6446838"/>
            <a:ext cx="78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kaggle.com/datasets/gpiosenka/musical-instruments-image-classification/data" TargetMode="External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0" y="1"/>
            <a:ext cx="12192001" cy="6857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70" name="Google Shape;70;p15"/>
          <p:cNvSpPr txBox="1"/>
          <p:nvPr>
            <p:ph type="ctrTitle"/>
          </p:nvPr>
        </p:nvSpPr>
        <p:spPr>
          <a:xfrm>
            <a:off x="5289754" y="639097"/>
            <a:ext cx="6253317" cy="3686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600"/>
              <a:buFont typeface="Bookman Old Style"/>
              <a:buNone/>
            </a:pPr>
            <a:r>
              <a:rPr lang="en-US" sz="6600"/>
              <a:t>Musical Instruments</a:t>
            </a:r>
            <a:br>
              <a:rPr lang="en-US" sz="6600"/>
            </a:br>
            <a:r>
              <a:rPr lang="en-US" sz="6600"/>
              <a:t>Classification</a:t>
            </a:r>
            <a:endParaRPr/>
          </a:p>
        </p:txBody>
      </p:sp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5289753" y="4672739"/>
            <a:ext cx="6269347" cy="1021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64865"/>
              <a:buNone/>
            </a:pPr>
            <a:r>
              <a:rPr lang="en-US">
                <a:solidFill>
                  <a:srgbClr val="262626"/>
                </a:solidFill>
              </a:rPr>
              <a:t>ALI KHALED		22P0260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262626"/>
                </a:solidFill>
              </a:rPr>
              <a:t>AHMAD SHERIF	2201075</a:t>
            </a:r>
            <a:endParaRPr sz="2400">
              <a:solidFill>
                <a:srgbClr val="262626"/>
              </a:solidFill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57" y="1"/>
            <a:ext cx="4571999" cy="6857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" name="Google Shape;73;p15"/>
          <p:cNvCxnSpPr/>
          <p:nvPr/>
        </p:nvCxnSpPr>
        <p:spPr>
          <a:xfrm>
            <a:off x="5427754" y="4498925"/>
            <a:ext cx="5636107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Project Description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7780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>
                <a:latin typeface="Bookman Old Style"/>
                <a:ea typeface="Bookman Old Style"/>
                <a:cs typeface="Bookman Old Style"/>
                <a:sym typeface="Bookman Old Style"/>
              </a:rPr>
              <a:t>Image-Based classification of musical instruments</a:t>
            </a:r>
            <a:endParaRPr/>
          </a:p>
          <a:p>
            <a:pPr indent="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17780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800"/>
              <a:buChar char="●"/>
            </a:pPr>
            <a:r>
              <a:rPr lang="en-US" sz="2800">
                <a:latin typeface="Bookman Old Style"/>
                <a:ea typeface="Bookman Old Style"/>
                <a:cs typeface="Bookman Old Style"/>
                <a:sym typeface="Bookman Old Style"/>
              </a:rPr>
              <a:t>30 different instruments (30 classes)</a:t>
            </a:r>
            <a:endParaRPr/>
          </a:p>
          <a:p>
            <a:pPr indent="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17780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800"/>
              <a:buChar char="●"/>
            </a:pPr>
            <a:r>
              <a:rPr lang="en-US" sz="2800">
                <a:latin typeface="Bookman Old Style"/>
                <a:ea typeface="Bookman Old Style"/>
                <a:cs typeface="Bookman Old Style"/>
                <a:sym typeface="Bookman Old Style"/>
              </a:rPr>
              <a:t>Classical ML and deep learning models implemented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643466" y="786383"/>
            <a:ext cx="3517567" cy="209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ookman Old Style"/>
              <a:buNone/>
            </a:pPr>
            <a:r>
              <a:rPr lang="en-US"/>
              <a:t>Dataset</a:t>
            </a:r>
            <a:br>
              <a:rPr lang="en-US"/>
            </a:br>
            <a:r>
              <a:rPr lang="en-US"/>
              <a:t>Overview</a:t>
            </a:r>
            <a:endParaRPr/>
          </a:p>
        </p:txBody>
      </p:sp>
      <p:sp>
        <p:nvSpPr>
          <p:cNvPr id="85" name="Google Shape;85;p17"/>
          <p:cNvSpPr txBox="1"/>
          <p:nvPr>
            <p:ph idx="2" type="body"/>
          </p:nvPr>
        </p:nvSpPr>
        <p:spPr>
          <a:xfrm>
            <a:off x="643465" y="3043050"/>
            <a:ext cx="3517567" cy="3064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Dataset imported from Kaggle</a:t>
            </a:r>
            <a:br>
              <a:rPr lang="en-US"/>
            </a:br>
            <a:r>
              <a:rPr lang="en-US"/>
              <a:t>link: </a:t>
            </a:r>
            <a:r>
              <a:rPr lang="en-US" sz="1000" u="sng">
                <a:solidFill>
                  <a:schemeClr val="hlink"/>
                </a:solidFill>
                <a:hlinkClick r:id="rId3"/>
              </a:rPr>
              <a:t>kaggle.com/musical-instruments-image-classification</a:t>
            </a:r>
            <a:endParaRPr sz="1000"/>
          </a:p>
          <a:p>
            <a:pPr indent="0" lvl="0" marL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US"/>
              <a:t>No of Classes: 30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US"/>
              <a:t>No of Images Loaded: 5093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US"/>
              <a:t>80 / 20 Train Test Split</a:t>
            </a:r>
            <a:endParaRPr/>
          </a:p>
        </p:txBody>
      </p:sp>
      <p:pic>
        <p:nvPicPr>
          <p:cNvPr id="86" name="Google Shape;86;p17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8800" y="1323975"/>
            <a:ext cx="7523200" cy="42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643466" y="786383"/>
            <a:ext cx="3517500" cy="2094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15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Methodology Roadmap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5458984" y="812799"/>
            <a:ext cx="5928300" cy="5294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0" spcFirstLastPara="1" rIns="0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1: Baseline:</a:t>
            </a:r>
            <a:endParaRPr b="1" sz="330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Classical ML approach using HOG descriptors with SVM and Random Forest</a:t>
            </a:r>
            <a:r>
              <a:rPr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2-3: Custom CNN:</a:t>
            </a:r>
            <a:b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Building a Convolutional Neural Network from scratch with regularization.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3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3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4-6: Transfer Learning:</a:t>
            </a:r>
            <a:endParaRPr b="1" sz="303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Leveraging MobileNetV2 and EfficientNetB0 for superior accuracy</a:t>
            </a:r>
            <a:br>
              <a:rPr lang="en-US" sz="2100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endParaRPr sz="2100">
              <a:solidFill>
                <a:srgbClr val="11CAA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100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endParaRPr sz="2100">
              <a:solidFill>
                <a:srgbClr val="11CAA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1CAA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1CAA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100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endParaRPr sz="2100">
              <a:solidFill>
                <a:srgbClr val="11CAA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1CAA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100">
              <a:solidFill>
                <a:srgbClr val="11CAA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 txBox="1"/>
          <p:nvPr>
            <p:ph idx="2" type="body"/>
          </p:nvPr>
        </p:nvSpPr>
        <p:spPr>
          <a:xfrm>
            <a:off x="643465" y="3043050"/>
            <a:ext cx="3517500" cy="306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643466" y="786383"/>
            <a:ext cx="3517567" cy="209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ookman Old Style"/>
              <a:buNone/>
            </a:pPr>
            <a:r>
              <a:rPr lang="en-US"/>
              <a:t>Preprocessing</a:t>
            </a:r>
            <a:br>
              <a:rPr lang="en-US"/>
            </a:br>
            <a:r>
              <a:rPr lang="en-US"/>
              <a:t>Pipeline</a:t>
            </a:r>
            <a:endParaRPr/>
          </a:p>
        </p:txBody>
      </p:sp>
      <p:sp>
        <p:nvSpPr>
          <p:cNvPr id="99" name="Google Shape;99;p19"/>
          <p:cNvSpPr txBox="1"/>
          <p:nvPr>
            <p:ph idx="2" type="body"/>
          </p:nvPr>
        </p:nvSpPr>
        <p:spPr>
          <a:xfrm>
            <a:off x="643465" y="3043050"/>
            <a:ext cx="3517567" cy="3064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Resize images to 128x128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US"/>
              <a:t>Convert to greyscale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US"/>
              <a:t>Extract HOG features</a:t>
            </a:r>
            <a:endParaRPr/>
          </a:p>
        </p:txBody>
      </p:sp>
      <p:pic>
        <p:nvPicPr>
          <p:cNvPr id="100" name="Google Shape;100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5815" y="2826066"/>
            <a:ext cx="7436185" cy="1205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643466" y="786383"/>
            <a:ext cx="3517567" cy="209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ookman Old Style"/>
              <a:buNone/>
            </a:pPr>
            <a:r>
              <a:rPr lang="en-US"/>
              <a:t>Feature</a:t>
            </a:r>
            <a:br>
              <a:rPr lang="en-US"/>
            </a:br>
            <a:r>
              <a:rPr lang="en-US"/>
              <a:t>Extraction</a:t>
            </a:r>
            <a:endParaRPr/>
          </a:p>
        </p:txBody>
      </p:sp>
      <p:sp>
        <p:nvSpPr>
          <p:cNvPr id="106" name="Google Shape;106;p20"/>
          <p:cNvSpPr txBox="1"/>
          <p:nvPr>
            <p:ph idx="2" type="body"/>
          </p:nvPr>
        </p:nvSpPr>
        <p:spPr>
          <a:xfrm>
            <a:off x="643465" y="3043050"/>
            <a:ext cx="3517567" cy="3064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Extracted from grayscale images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US"/>
              <a:t>Focuses on shape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US"/>
              <a:t>The features extracted  capture:</a:t>
            </a:r>
            <a:br>
              <a:rPr lang="en-US"/>
            </a:br>
            <a:r>
              <a:rPr lang="en-US"/>
              <a:t>   Edge direction &amp; strength</a:t>
            </a:r>
            <a:br>
              <a:rPr lang="en-US"/>
            </a:br>
            <a:r>
              <a:rPr lang="en-US"/>
              <a:t>   Object contours &amp; outlines</a:t>
            </a:r>
            <a:br>
              <a:rPr lang="en-US"/>
            </a:br>
            <a:r>
              <a:rPr lang="en-US"/>
              <a:t>   Local shape patterns</a:t>
            </a:r>
            <a:br>
              <a:rPr lang="en-US"/>
            </a:br>
            <a:r>
              <a:rPr lang="en-US"/>
              <a:t>   Texture-Like gradient structure</a:t>
            </a:r>
            <a:endParaRPr/>
          </a:p>
        </p:txBody>
      </p:sp>
      <p:pic>
        <p:nvPicPr>
          <p:cNvPr id="107" name="Google Shape;107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4452" y="436959"/>
            <a:ext cx="5984082" cy="59840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ML Classifiers Overview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7780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>
                <a:latin typeface="Bookman Old Style"/>
                <a:ea typeface="Bookman Old Style"/>
                <a:cs typeface="Bookman Old Style"/>
                <a:sym typeface="Bookman Old Style"/>
              </a:rPr>
              <a:t>Random Forest</a:t>
            </a:r>
            <a:endParaRPr/>
          </a:p>
          <a:p>
            <a:pPr indent="-17780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800"/>
              <a:buChar char="●"/>
            </a:pPr>
            <a:r>
              <a:rPr lang="en-US" sz="2800">
                <a:latin typeface="Bookman Old Style"/>
                <a:ea typeface="Bookman Old Style"/>
                <a:cs typeface="Bookman Old Style"/>
                <a:sym typeface="Bookman Old Style"/>
              </a:rPr>
              <a:t>Extra Trees</a:t>
            </a:r>
            <a:endParaRPr/>
          </a:p>
          <a:p>
            <a:pPr indent="-17780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800"/>
              <a:buChar char="●"/>
            </a:pPr>
            <a:r>
              <a:rPr lang="en-US" sz="2800">
                <a:latin typeface="Bookman Old Style"/>
                <a:ea typeface="Bookman Old Style"/>
                <a:cs typeface="Bookman Old Style"/>
                <a:sym typeface="Bookman Old Style"/>
              </a:rPr>
              <a:t>SVM</a:t>
            </a:r>
            <a:endParaRPr/>
          </a:p>
          <a:p>
            <a:pPr indent="-17780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800"/>
              <a:buChar char="●"/>
            </a:pPr>
            <a:r>
              <a:rPr lang="en-US" sz="2800">
                <a:latin typeface="Bookman Old Style"/>
                <a:ea typeface="Bookman Old Style"/>
                <a:cs typeface="Bookman Old Style"/>
                <a:sym typeface="Bookman Old Style"/>
              </a:rPr>
              <a:t>KNN</a:t>
            </a:r>
            <a:endParaRPr/>
          </a:p>
          <a:p>
            <a:pPr indent="-17780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800"/>
              <a:buChar char="●"/>
            </a:pPr>
            <a:r>
              <a:rPr lang="en-US" sz="2800">
                <a:latin typeface="Bookman Old Style"/>
                <a:ea typeface="Bookman Old Style"/>
                <a:cs typeface="Bookman Old Style"/>
                <a:sym typeface="Bookman Old Style"/>
              </a:rPr>
              <a:t>XGBoost</a:t>
            </a:r>
            <a:endParaRPr sz="2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Random Forest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1097280" y="2370706"/>
            <a:ext cx="7574400" cy="3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Ensemble of multiple decision trees</a:t>
            </a:r>
            <a:br>
              <a:rPr b="0"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b="0" i="0" sz="20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Each tree trained on random subsets of data and features</a:t>
            </a:r>
            <a:br>
              <a:rPr b="0"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b="0" i="0" sz="20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Final prediction by majority voting</a:t>
            </a:r>
            <a:br>
              <a:rPr b="0"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b="0" i="0" sz="20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Reduces overfitting compared to a single tree</a:t>
            </a:r>
            <a:endParaRPr sz="20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Bookman Old Style"/>
                <a:ea typeface="Bookman Old Style"/>
                <a:cs typeface="Bookman Old Style"/>
                <a:sym typeface="Bookman Old Style"/>
              </a:rPr>
              <a:t>Result:</a:t>
            </a:r>
            <a:endParaRPr/>
          </a:p>
          <a:p>
            <a:pPr indent="-12700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Bookman Old Style"/>
                <a:ea typeface="Bookman Old Style"/>
                <a:cs typeface="Bookman Old Style"/>
                <a:sym typeface="Bookman Old Style"/>
              </a:rPr>
              <a:t>Accuracy ≈ 47.5%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Extra Trees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1097280" y="2370705"/>
            <a:ext cx="7000500" cy="3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Similar to Random Forest but with more randomness</a:t>
            </a:r>
            <a:br>
              <a:rPr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i="0" sz="20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Splits are chosen randomly instead of optimally</a:t>
            </a:r>
            <a:br>
              <a:rPr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i="0" sz="20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Faster training and stronger regularization</a:t>
            </a:r>
            <a:br>
              <a:rPr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i="0" sz="20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Reduces variance but may increase bias</a:t>
            </a:r>
            <a:endParaRPr/>
          </a:p>
          <a:p>
            <a:pPr indent="-127000" lvl="0" marL="9144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Bookman Old Style"/>
                <a:ea typeface="Bookman Old Style"/>
                <a:cs typeface="Bookman Old Style"/>
                <a:sym typeface="Bookman Old Style"/>
              </a:rPr>
              <a:t>Result:</a:t>
            </a:r>
            <a:endParaRPr/>
          </a:p>
          <a:p>
            <a:pPr indent="-12700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Bookman Old Style"/>
                <a:ea typeface="Bookman Old Style"/>
                <a:cs typeface="Bookman Old Style"/>
                <a:sym typeface="Bookman Old Style"/>
              </a:rPr>
              <a:t>Accuracy ≈ 50.2%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K-Nearest Neighbors (KNN)</a:t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1097280" y="2370706"/>
            <a:ext cx="8289300" cy="3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Instance-based (lazy) learning algorithm</a:t>
            </a:r>
            <a:br>
              <a:rPr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i="0" sz="20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Classifies a sample using the majority vote of nearest neighbors</a:t>
            </a:r>
            <a:br>
              <a:rPr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i="0" sz="20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Distance metric: Euclidean distance</a:t>
            </a:r>
            <a:br>
              <a:rPr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i="0" sz="20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Sensitive to feature scaling and noise</a:t>
            </a:r>
            <a:endParaRPr/>
          </a:p>
          <a:p>
            <a:pPr indent="-127000" lvl="0" marL="9144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Bookman Old Style"/>
                <a:ea typeface="Bookman Old Style"/>
                <a:cs typeface="Bookman Old Style"/>
                <a:sym typeface="Bookman Old Style"/>
              </a:rPr>
              <a:t>Result:</a:t>
            </a:r>
            <a:endParaRPr/>
          </a:p>
          <a:p>
            <a:pPr indent="-12700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Bookman Old Style"/>
                <a:ea typeface="Bookman Old Style"/>
                <a:cs typeface="Bookman Old Style"/>
                <a:sym typeface="Bookman Old Style"/>
              </a:rPr>
              <a:t>Accuracy ≈ 49.9%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Support Vector Machine (SVM)</a:t>
            </a:r>
            <a:endParaRPr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1097280" y="2370705"/>
            <a:ext cx="6763500" cy="3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Finds an optimal hyperplane that separates classes</a:t>
            </a:r>
            <a:br>
              <a:rPr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i="0" sz="20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Maximizes margin between class boundaries</a:t>
            </a:r>
            <a:br>
              <a:rPr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i="0" sz="20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Uses kernel trick for non-linear separation</a:t>
            </a:r>
            <a:br>
              <a:rPr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i="0" sz="20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Effective in high-dimensional feature spaces</a:t>
            </a:r>
            <a:endParaRPr/>
          </a:p>
          <a:p>
            <a:pPr indent="-127000" lvl="0" marL="9144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Bookman Old Style"/>
                <a:ea typeface="Bookman Old Style"/>
                <a:cs typeface="Bookman Old Style"/>
                <a:sym typeface="Bookman Old Style"/>
              </a:rPr>
              <a:t>Result:</a:t>
            </a:r>
            <a:endParaRPr/>
          </a:p>
          <a:p>
            <a:pPr indent="-12700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Bookman Old Style"/>
                <a:ea typeface="Bookman Old Style"/>
                <a:cs typeface="Bookman Old Style"/>
                <a:sym typeface="Bookman Old Style"/>
              </a:rPr>
              <a:t>Accuracy ≈ 55.3%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XGBoost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1097280" y="2370705"/>
            <a:ext cx="7266600" cy="3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Gradient boosting ensemble of decision trees</a:t>
            </a:r>
            <a:br>
              <a:rPr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i="0" sz="20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Trees are trained sequentially to correct previous errors</a:t>
            </a:r>
            <a:br>
              <a:rPr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i="0" sz="20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Uses regularization to prevent overfitting</a:t>
            </a:r>
            <a:br>
              <a:rPr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i="0" sz="20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Highly efficient and scalable</a:t>
            </a:r>
            <a:endParaRPr/>
          </a:p>
          <a:p>
            <a:pPr indent="-127000" lvl="0" marL="9144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Bookman Old Style"/>
                <a:ea typeface="Bookman Old Style"/>
                <a:cs typeface="Bookman Old Style"/>
                <a:sym typeface="Bookman Old Style"/>
              </a:rPr>
              <a:t>Result:</a:t>
            </a:r>
            <a:endParaRPr/>
          </a:p>
          <a:p>
            <a:pPr indent="-12700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Bookman Old Style"/>
                <a:ea typeface="Bookman Old Style"/>
                <a:cs typeface="Bookman Old Style"/>
                <a:sym typeface="Bookman Old Style"/>
              </a:rPr>
              <a:t>Accuracy </a:t>
            </a:r>
            <a:r>
              <a:rPr lang="en-US" sz="2000"/>
              <a:t>≈</a:t>
            </a:r>
            <a:r>
              <a:rPr lang="en-US"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55.05</a:t>
            </a:r>
            <a:endParaRPr sz="20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643466" y="786383"/>
            <a:ext cx="3517500" cy="2094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Phase 2 :</a:t>
            </a:r>
            <a:endParaRPr b="1" sz="315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1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 Custom CNN Architecture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5458984" y="812799"/>
            <a:ext cx="5928300" cy="52947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Representation Learning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Designed a multi-layer CNN to learn hierarchical features directly from raw pixels</a:t>
            </a:r>
            <a:endParaRPr sz="15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5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Conv2D Blocks:</a:t>
            </a:r>
            <a:r>
              <a:rPr lang="en-US" sz="15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32, 64, and 128 filters to capture spatial hierarchies.</a:t>
            </a:r>
            <a:endParaRPr sz="15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5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Regularization:</a:t>
            </a:r>
            <a:r>
              <a:rPr lang="en-US" sz="15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Dropout (0.5) to prevent overfitting on the training set.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5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Augmentation:</a:t>
            </a:r>
            <a:r>
              <a:rPr lang="en-US" sz="15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Rotation, zoom, and flip to artificially expand the dataset.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7"/>
          <p:cNvSpPr txBox="1"/>
          <p:nvPr>
            <p:ph idx="2" type="body"/>
          </p:nvPr>
        </p:nvSpPr>
        <p:spPr>
          <a:xfrm>
            <a:off x="643465" y="3043050"/>
            <a:ext cx="3517500" cy="306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151" name="Google Shape;15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4688" y="2282292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8488" y="333851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78975" y="4618153"/>
            <a:ext cx="1905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643466" y="786383"/>
            <a:ext cx="3517500" cy="2094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Phase 3: EfficientNetB0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5458984" y="812799"/>
            <a:ext cx="5928300" cy="52947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Compound Scaling Success: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EfficientNetB0 uses a principled method to scale depth, width, and resolution simultaneously. It achieved our project's peak performance with high efficiency</a:t>
            </a:r>
            <a:r>
              <a:rPr lang="en-US" sz="135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23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8"/>
          <p:cNvSpPr txBox="1"/>
          <p:nvPr>
            <p:ph idx="2" type="body"/>
          </p:nvPr>
        </p:nvSpPr>
        <p:spPr>
          <a:xfrm>
            <a:off x="643465" y="3043050"/>
            <a:ext cx="3517500" cy="306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99.1%</a:t>
            </a:r>
            <a:endParaRPr b="1" sz="90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FINAL ACCURAC</a:t>
            </a:r>
            <a:r>
              <a:rPr lang="en-US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Y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9000">
              <a:solidFill>
                <a:srgbClr val="11CAA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161" name="Google Shape;16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3850" y="2597275"/>
            <a:ext cx="899160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Comparative Analysis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1097280" y="2108201"/>
            <a:ext cx="10058400" cy="37608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9" title="WhatsApp Image 2026-05-23 at 7.39.25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388" y="2108200"/>
            <a:ext cx="11325225" cy="466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1097280" y="2711375"/>
            <a:ext cx="80154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6510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ookman Old Style"/>
              <a:buChar char="•"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Massive Accuracy Leap: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Deep Learning (99.1%) vastly outperformed classical ML baselines (65.4%).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ookman Old Style"/>
              <a:buChar char="•"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Feature Extraction: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Automated CNNs captured complex details much better than manual HOG methods.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ookman Old Style"/>
              <a:buChar char="•"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 Learning Success: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Pre-trained models like EfficientNetB0 maximized both training speed and final accuracy.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Bookman Old Style"/>
              <a:buChar char="•"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Focus: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Resolving minor edge cases between visually identical instruments (e.g., Violin vs. Cello).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