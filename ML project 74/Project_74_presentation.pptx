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kaggle.com/datasets/gpiosenka/musical-instruments-image-classification/data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top-machine-learning-algorithms-for-classification/" TargetMode="External"/><Relationship Id="rId2" Type="http://schemas.openxmlformats.org/officeDocument/2006/relationships/hyperlink" Target="https://www.mathworks.com/campaigns/offers/next/choosing-the-best-machine-learning-classification-model-and-avoiding-overfitting.html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researchgate.net/figure/Block-diagram-of-HOG-feature-extraction_fig4_26786836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6600" dirty="0"/>
              <a:t>Musical Instruments</a:t>
            </a:r>
            <a:br>
              <a:rPr lang="en-US" sz="6600" dirty="0"/>
            </a:br>
            <a:r>
              <a:rPr lang="en-US" sz="6600" dirty="0"/>
              <a:t>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 lnSpcReduction="10000"/>
          </a:bodyPr>
          <a:lstStyle/>
          <a:p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ali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Khaled		22P0260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Ahmad Sherif	2201075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657" y="1"/>
            <a:ext cx="4571999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01DEA-B949-7ADD-3B4A-F942C94A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8C13F-6376-9999-AA33-0EED0396E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+mj-lt"/>
              </a:rPr>
              <a:t>Image-Based classification of musical instruments</a:t>
            </a:r>
          </a:p>
          <a:p>
            <a:endParaRPr lang="en-US" sz="2800" dirty="0">
              <a:latin typeface="+mj-lt"/>
            </a:endParaRPr>
          </a:p>
          <a:p>
            <a:r>
              <a:rPr lang="en-US" sz="2800" dirty="0">
                <a:latin typeface="+mj-lt"/>
              </a:rPr>
              <a:t>30 different instruments (30 classes)</a:t>
            </a:r>
          </a:p>
          <a:p>
            <a:endParaRPr lang="en-US" sz="2800" dirty="0">
              <a:latin typeface="+mj-lt"/>
            </a:endParaRPr>
          </a:p>
          <a:p>
            <a:r>
              <a:rPr lang="en-US" sz="2800" dirty="0">
                <a:latin typeface="+mj-lt"/>
              </a:rPr>
              <a:t>Multiple Machine Learning models implemented</a:t>
            </a:r>
          </a:p>
        </p:txBody>
      </p:sp>
    </p:spTree>
    <p:extLst>
      <p:ext uri="{BB962C8B-B14F-4D97-AF65-F5344CB8AC3E}">
        <p14:creationId xmlns:p14="http://schemas.microsoft.com/office/powerpoint/2010/main" val="644604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12E1C-2D64-5DE2-B954-32E6283C8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br>
              <a:rPr lang="en-US" dirty="0"/>
            </a:br>
            <a:r>
              <a:rPr lang="en-US" dirty="0"/>
              <a:t>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D3FB6F-725D-DCB4-083E-3A63A82EE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Dataset imported from Kaggle</a:t>
            </a:r>
            <a:br>
              <a:rPr lang="en-US" dirty="0"/>
            </a:br>
            <a:r>
              <a:rPr lang="en-US" dirty="0"/>
              <a:t>link: </a:t>
            </a:r>
            <a:r>
              <a:rPr lang="en-US" sz="1000" dirty="0">
                <a:hlinkClick r:id="rId2"/>
              </a:rPr>
              <a:t>kaggle.com/musical-instruments-image-classification</a:t>
            </a:r>
            <a:endParaRPr lang="en-US" sz="1000" dirty="0"/>
          </a:p>
          <a:p>
            <a:r>
              <a:rPr lang="en-US" dirty="0"/>
              <a:t>No of Classes: 30</a:t>
            </a:r>
          </a:p>
          <a:p>
            <a:r>
              <a:rPr lang="en-US" dirty="0"/>
              <a:t>No of Images Loaded: 5093</a:t>
            </a:r>
          </a:p>
          <a:p>
            <a:r>
              <a:rPr lang="en-US" dirty="0"/>
              <a:t>80 / 20 Train Test Split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87613471-8E25-5C2F-A2C9-3E49717AD5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68800" y="1323975"/>
            <a:ext cx="7523200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040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0203F-6182-35D6-7195-4753B6ECB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</a:t>
            </a:r>
            <a:br>
              <a:rPr lang="en-US" dirty="0"/>
            </a:br>
            <a:r>
              <a:rPr lang="en-US" dirty="0"/>
              <a:t>Pipeline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417779-6CC7-E5DD-DAE1-928D7BA5B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Resize images to 128x128</a:t>
            </a:r>
          </a:p>
          <a:p>
            <a:r>
              <a:rPr lang="en-US" dirty="0"/>
              <a:t>Convert to greyscale</a:t>
            </a:r>
          </a:p>
          <a:p>
            <a:r>
              <a:rPr lang="en-US" dirty="0"/>
              <a:t>Extract HOG features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F9944EE-0354-E3F5-A3C9-BDFCBAB29E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5815" y="2826066"/>
            <a:ext cx="7436185" cy="1205867"/>
          </a:xfrm>
        </p:spPr>
      </p:pic>
    </p:spTree>
    <p:extLst>
      <p:ext uri="{BB962C8B-B14F-4D97-AF65-F5344CB8AC3E}">
        <p14:creationId xmlns:p14="http://schemas.microsoft.com/office/powerpoint/2010/main" val="1879142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587AF-9301-F31A-1746-EEF14028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</a:t>
            </a:r>
            <a:br>
              <a:rPr lang="en-US" dirty="0"/>
            </a:br>
            <a:r>
              <a:rPr lang="en-US" dirty="0"/>
              <a:t>Extraction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0DCAAA-1601-3936-442E-6E1446E88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Extracted from grayscale images</a:t>
            </a:r>
          </a:p>
          <a:p>
            <a:r>
              <a:rPr lang="en-US" dirty="0"/>
              <a:t>Focuses on shape</a:t>
            </a:r>
          </a:p>
          <a:p>
            <a:r>
              <a:rPr lang="en-US" dirty="0"/>
              <a:t>The features extracted  capture:</a:t>
            </a:r>
            <a:br>
              <a:rPr lang="en-US" dirty="0"/>
            </a:br>
            <a:r>
              <a:rPr lang="en-US" dirty="0"/>
              <a:t>   Edge direction &amp; strength</a:t>
            </a:r>
            <a:br>
              <a:rPr lang="en-US" dirty="0"/>
            </a:br>
            <a:r>
              <a:rPr lang="en-US" dirty="0"/>
              <a:t>   Object contours &amp; outlines</a:t>
            </a:r>
            <a:br>
              <a:rPr lang="en-US" dirty="0"/>
            </a:br>
            <a:r>
              <a:rPr lang="en-US" dirty="0"/>
              <a:t>   Local shape patterns</a:t>
            </a:r>
            <a:br>
              <a:rPr lang="en-US" dirty="0"/>
            </a:br>
            <a:r>
              <a:rPr lang="en-US" dirty="0"/>
              <a:t>   Texture-Like gradient structure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B760BF3C-841F-0228-7080-B5BC7C24EC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452" y="436959"/>
            <a:ext cx="5984082" cy="5984082"/>
          </a:xfrm>
        </p:spPr>
      </p:pic>
    </p:spTree>
    <p:extLst>
      <p:ext uri="{BB962C8B-B14F-4D97-AF65-F5344CB8AC3E}">
        <p14:creationId xmlns:p14="http://schemas.microsoft.com/office/powerpoint/2010/main" val="2086551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10E3D-354D-56B0-427A-4973A6A20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Classifiers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73344-4EFD-EE16-393B-088D8F4C9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+mj-lt"/>
              </a:rPr>
              <a:t>Random Forest</a:t>
            </a:r>
          </a:p>
          <a:p>
            <a:r>
              <a:rPr lang="en-US" sz="2800" dirty="0">
                <a:latin typeface="+mj-lt"/>
              </a:rPr>
              <a:t>Extra Trees</a:t>
            </a:r>
          </a:p>
          <a:p>
            <a:r>
              <a:rPr lang="en-US" sz="2800" dirty="0">
                <a:latin typeface="+mj-lt"/>
              </a:rPr>
              <a:t>SVM</a:t>
            </a:r>
          </a:p>
          <a:p>
            <a:r>
              <a:rPr lang="en-US" sz="2800" dirty="0">
                <a:latin typeface="+mj-lt"/>
              </a:rPr>
              <a:t>KNN</a:t>
            </a:r>
          </a:p>
          <a:p>
            <a:r>
              <a:rPr lang="en-US" sz="2800" dirty="0" err="1">
                <a:latin typeface="+mj-lt"/>
              </a:rPr>
              <a:t>XGBoost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04197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D44E7-8669-1BFF-9219-4D86FB02E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CF5211-2461-F1FA-EF92-D2324AC186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370706"/>
            <a:ext cx="7574509" cy="3235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Ensemble of multiple decision trees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Each tree trained on random subsets of data and features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Final prediction by majority voting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Reduces overfitting compared to a single tree</a:t>
            </a:r>
            <a:endParaRPr lang="en-US" altLang="en-US" sz="2000" dirty="0">
              <a:solidFill>
                <a:schemeClr val="tx1"/>
              </a:solidFill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Result:</a:t>
            </a:r>
          </a:p>
          <a:p>
            <a:r>
              <a:rPr lang="en-US" sz="2000" dirty="0">
                <a:latin typeface="+mj-lt"/>
              </a:rPr>
              <a:t>Accuracy ≈ 47.5%</a:t>
            </a:r>
          </a:p>
        </p:txBody>
      </p:sp>
    </p:spTree>
    <p:extLst>
      <p:ext uri="{BB962C8B-B14F-4D97-AF65-F5344CB8AC3E}">
        <p14:creationId xmlns:p14="http://schemas.microsoft.com/office/powerpoint/2010/main" val="916009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8BA66-0CC5-768B-FCC7-4B2579A83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Trees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FD67A6-2569-D52F-874E-2D66C2898A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370705"/>
            <a:ext cx="7000634" cy="3235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Similar to Random Forest but with more randomness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Splits are chosen randomly instead of optimally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Faster training and stronger regularization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Reduces variance but may increase bias</a:t>
            </a:r>
          </a:p>
          <a:p>
            <a:r>
              <a:rPr lang="en-US" sz="2000" dirty="0">
                <a:latin typeface="+mj-lt"/>
              </a:rPr>
              <a:t>Result:</a:t>
            </a:r>
          </a:p>
          <a:p>
            <a:r>
              <a:rPr lang="en-US" sz="2000" dirty="0">
                <a:latin typeface="+mj-lt"/>
              </a:rPr>
              <a:t>Accuracy ≈ 50.2%</a:t>
            </a:r>
          </a:p>
        </p:txBody>
      </p:sp>
    </p:spTree>
    <p:extLst>
      <p:ext uri="{BB962C8B-B14F-4D97-AF65-F5344CB8AC3E}">
        <p14:creationId xmlns:p14="http://schemas.microsoft.com/office/powerpoint/2010/main" val="2971802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F9C81-A542-6811-CBC4-EB19ADF08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Neighbors (KNN)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298329-E891-68E9-C44A-592C23A391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370706"/>
            <a:ext cx="8289449" cy="3235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Instance-based (lazy) learning algorithm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Classifies a sample using the majority vote of nearest neighbors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Distance metric: Euclidean distance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Sensitive to feature scaling and noise</a:t>
            </a:r>
          </a:p>
          <a:p>
            <a:r>
              <a:rPr lang="en-US" sz="2000" dirty="0">
                <a:latin typeface="+mj-lt"/>
              </a:rPr>
              <a:t>Result:</a:t>
            </a:r>
          </a:p>
          <a:p>
            <a:r>
              <a:rPr lang="en-US" sz="2000" dirty="0">
                <a:latin typeface="+mj-lt"/>
              </a:rPr>
              <a:t>Accuracy ≈ 49.9%</a:t>
            </a:r>
          </a:p>
        </p:txBody>
      </p:sp>
    </p:spTree>
    <p:extLst>
      <p:ext uri="{BB962C8B-B14F-4D97-AF65-F5344CB8AC3E}">
        <p14:creationId xmlns:p14="http://schemas.microsoft.com/office/powerpoint/2010/main" val="849040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32B42-0651-B842-53B9-32AF79946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 (SVM)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7285AA-16A7-7883-32B6-EFE511FEE6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370705"/>
            <a:ext cx="6763390" cy="3235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Finds an optimal hyperplane that separates classes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Maximizes margin between class boundaries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Uses kernel trick for non-linear separation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Effective in high-dimensional feature spaces</a:t>
            </a:r>
          </a:p>
          <a:p>
            <a:r>
              <a:rPr lang="en-US" sz="2000" dirty="0">
                <a:latin typeface="+mj-lt"/>
              </a:rPr>
              <a:t>Result:</a:t>
            </a:r>
          </a:p>
          <a:p>
            <a:r>
              <a:rPr lang="en-US" sz="2000" dirty="0">
                <a:latin typeface="+mj-lt"/>
              </a:rPr>
              <a:t>Accuracy ≈ 55.3%</a:t>
            </a:r>
          </a:p>
        </p:txBody>
      </p:sp>
    </p:spTree>
    <p:extLst>
      <p:ext uri="{BB962C8B-B14F-4D97-AF65-F5344CB8AC3E}">
        <p14:creationId xmlns:p14="http://schemas.microsoft.com/office/powerpoint/2010/main" val="2796163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AAB82-AC3A-E64F-45C8-F08C8531F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429C9F-36D3-30AE-AB15-5F7D556989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370705"/>
            <a:ext cx="7266733" cy="3235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Gradient boosting ensemble of decision trees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Trees are trained sequentially to correct previous errors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Uses regularization to prevent overfitting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Highly efficient and scalable</a:t>
            </a:r>
          </a:p>
          <a:p>
            <a:r>
              <a:rPr lang="en-US" sz="2000" dirty="0">
                <a:latin typeface="+mj-lt"/>
              </a:rPr>
              <a:t>Result:</a:t>
            </a:r>
          </a:p>
          <a:p>
            <a:r>
              <a:rPr lang="en-US" sz="2000" dirty="0">
                <a:latin typeface="+mj-lt"/>
              </a:rPr>
              <a:t>Accuracy </a:t>
            </a:r>
            <a:r>
              <a:rPr lang="en-US" sz="2000" dirty="0"/>
              <a:t>≈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 55.05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25209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6DE2-B250-DBBE-866F-2CD20FAF6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5C52094-5DE5-F291-32DC-5B31D9A46A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711375"/>
            <a:ext cx="801533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 complete image classification pipeline was implemented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Traditional classifiers were compared on the same feature set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SVM and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XGBoost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achieved the best performance, showing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strong ability to handle high-dimensional HOG features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Tree-based ensemble methods showed moderate performance</a:t>
            </a:r>
          </a:p>
        </p:txBody>
      </p:sp>
    </p:spTree>
    <p:extLst>
      <p:ext uri="{BB962C8B-B14F-4D97-AF65-F5344CB8AC3E}">
        <p14:creationId xmlns:p14="http://schemas.microsoft.com/office/powerpoint/2010/main" val="2244939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B270C-544B-A769-3000-852CC62854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F527A7-8496-59FE-BCD7-F7B0C6A5F3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References:</a:t>
            </a:r>
            <a:br>
              <a:rPr lang="en-US" dirty="0"/>
            </a:br>
            <a:r>
              <a:rPr lang="en-US" dirty="0">
                <a:hlinkClick r:id="rId2"/>
              </a:rPr>
              <a:t>mathworks.com</a:t>
            </a:r>
            <a:r>
              <a:rPr lang="en-US" dirty="0"/>
              <a:t>   </a:t>
            </a:r>
            <a:r>
              <a:rPr lang="en-US" dirty="0">
                <a:hlinkClick r:id="rId3"/>
              </a:rPr>
              <a:t>geeksforgeeks.org</a:t>
            </a:r>
            <a:r>
              <a:rPr lang="en-US" dirty="0"/>
              <a:t>   </a:t>
            </a:r>
            <a:r>
              <a:rPr lang="en-US" dirty="0">
                <a:hlinkClick r:id="rId4"/>
              </a:rPr>
              <a:t>researchgate.net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8920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{EAF95E25-04F8-4DEC-AA26-B3E1DA9F4F23}TFf0a5ceae-4542-492d-822e-d65a94fb0e1e3b562c5a_win32-009a0557e699</Template>
  <TotalTime>106</TotalTime>
  <Words>366</Words>
  <Application>Microsoft Office PowerPoint</Application>
  <PresentationFormat>Widescreen</PresentationFormat>
  <Paragraphs>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Bookman Old Style</vt:lpstr>
      <vt:lpstr>Calibri</vt:lpstr>
      <vt:lpstr>Franklin Gothic Book</vt:lpstr>
      <vt:lpstr>Custom</vt:lpstr>
      <vt:lpstr>Musical Instruments Classification</vt:lpstr>
      <vt:lpstr>Project Description</vt:lpstr>
      <vt:lpstr>Dataset Overview</vt:lpstr>
      <vt:lpstr>Preprocessing Pipeline</vt:lpstr>
      <vt:lpstr>Feature Extraction</vt:lpstr>
      <vt:lpstr>Classifiers Overview</vt:lpstr>
      <vt:lpstr>Random Forest</vt:lpstr>
      <vt:lpstr>Extra Trees</vt:lpstr>
      <vt:lpstr>K-Nearest Neighbors (KNN)</vt:lpstr>
      <vt:lpstr>Support Vector Machine (SVM)</vt:lpstr>
      <vt:lpstr>XGBoost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Sherif</dc:creator>
  <cp:lastModifiedBy>Ahmad Sherif</cp:lastModifiedBy>
  <cp:revision>1</cp:revision>
  <dcterms:created xsi:type="dcterms:W3CDTF">2026-01-15T20:07:21Z</dcterms:created>
  <dcterms:modified xsi:type="dcterms:W3CDTF">2026-01-15T21:53:25Z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